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70" r:id="rId11"/>
    <p:sldId id="263" r:id="rId12"/>
    <p:sldId id="264" r:id="rId13"/>
    <p:sldId id="271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77" autoAdjust="0"/>
  </p:normalViewPr>
  <p:slideViewPr>
    <p:cSldViewPr snapToGrid="0" snapToObjects="1">
      <p:cViewPr varScale="1">
        <p:scale>
          <a:sx n="87" d="100"/>
          <a:sy n="87" d="100"/>
        </p:scale>
        <p:origin x="14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F2235-054F-4D6E-A897-E5FF6A4F8BA4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987B8-9C6A-4D4B-8204-77189E9EE4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155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Hola, soy Sebastián Tapia.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Esta es mi presentación para la Evaluación Final Transversal de Desarrollo Backend III.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El proyecto aborda la modernización crítica del Banco XYZ, migrando su núcleo desde un mainframe monolítico con COBOL hacia una arquitectura distribuida y resiliente, utilizando Spring Batch, el patrón BFF, microservicios en Spring Cloud, OAuth2 y contenedores Docker.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9921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El objetivo principal del proyecto es resolver tres grandes problemas del legado: los altos costos de mantenimiento, la escalabilidad rígida y la falta de tolerancia a fallos.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Para lograrlo, abordamos tres frentes: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CL" dirty="0"/>
              <a:t>Primero: reescribimos los procesos de fin de día a Spring Batch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CL" dirty="0"/>
              <a:t>Segundo: implementamos el patrón Backend for Frontend para independizar los canales web, móvil y cajero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CL" dirty="0"/>
              <a:t>Y Tercero, creamos microservicios autónomos con seguridad distribuida y mensajería asíncrona.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Todo el ecosistema se orquesta de forma local mediante Docker.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378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 nivel arquitectónico, separamos claramente las responsabilidades.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El proceso Batch alimenta nuestra base H2, y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xyz-backend</a:t>
            </a:r>
            <a:r>
              <a:rPr lang="es-CL" dirty="0"/>
              <a:t> es el único componente autorizado para acceder a esos datos, asegurando la integridad.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Los canales consumen estos datos a través del BFF.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Por otro lado, la operación transaccional entra por nuestro API Gateway y se distribuye hacia los microservicios.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Todo el ecosistema está respaldado por Config Server para gestión centralizada, Eureka para el descubrimiento de instancias, y un Authorization Server que garantiza que cada petición viaje firmada.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0221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En cuanto a los procesos masivos, los antiguos scripts se reemplazaron por Jobs de Spring Batch.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¿Por qué este cambio? Principalmente por la resiliencia.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Si un registro viene corrupto, aplicamos una política de </a:t>
            </a:r>
            <a:r>
              <a:rPr lang="es-CL" i="1" dirty="0"/>
              <a:t>skip</a:t>
            </a:r>
            <a:r>
              <a:rPr lang="es-CL" dirty="0"/>
              <a:t> (omisión) para no detener todo el procesamiento, y si hay un fallo de red, aplicamos </a:t>
            </a:r>
            <a:r>
              <a:rPr lang="es-CL" i="1" dirty="0"/>
              <a:t>retry</a:t>
            </a:r>
            <a:r>
              <a:rPr lang="es-CL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Además, utilizamos un </a:t>
            </a:r>
            <a:r>
              <a:rPr lang="es-CL" i="1" dirty="0"/>
              <a:t>partitioner</a:t>
            </a:r>
            <a:r>
              <a:rPr lang="es-CL" dirty="0"/>
              <a:t> para paralelizar la carga.</a:t>
            </a:r>
            <a:endParaRPr lang="es-C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880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C997-E165-0D08-1CDA-0D6CCD6D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0A5B8D-E40E-B0AB-4A85-1A99646EF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194CCA-148C-A84E-1774-73285A453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En pantalla, el archivo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evidencia_batch_resumen.txt</a:t>
            </a:r>
            <a:r>
              <a:rPr lang="es-CL" dirty="0"/>
              <a:t> demuestra la migración exitosa de 476 transacciones diarias, manteniendo la exactitud contable que exige auditoría.</a:t>
            </a:r>
            <a:endParaRPr lang="es-C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4C5118-6A5C-05A3-2338-C36F6475B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4059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Antes, el monolito enviaba el mismo volumen de datos a todos los canales.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Ahora, con el patrón BFF, optimizamos el rendimiento y el consumo de ancho de banda.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La Web recibe el dashboard completo, pero el Móvil solo descarga lo esencial.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Además, respondiendo a las mejores prácticas, eliminamos el acceso directo a la base de datos (JDBC) desde los canales; ahora consumen información mediante cliente HTTP (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RestClient</a:t>
            </a:r>
            <a:r>
              <a:rPr lang="es-CL" dirty="0"/>
              <a:t>).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1515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0D61-3987-6B18-3D58-29645930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24913E-A28D-54B0-2CEE-824A5CA10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71739E-A3E1-3D45-7FCE-905F9BEA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En pantalla, la evidencia muestra cómo la validación funciona: si un canal intenta acceder a una ruta que no le corresponde, o si el cajero usa un PIN inválido, el sistema responde con un 401.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92A2AF-97F1-BA9A-449C-B183D6CF9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9923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 monolito se dividió en tres dominios: </a:t>
            </a:r>
          </a:p>
          <a:p>
            <a:pPr marL="171450" indent="-171450">
              <a:buFontTx/>
              <a:buChar char="-"/>
            </a:pPr>
            <a:r>
              <a:rPr lang="es-CL" dirty="0"/>
              <a:t>Cuentas, Transacciones (pagos) e Intereses (productos). </a:t>
            </a:r>
          </a:p>
          <a:p>
            <a:pPr marL="171450" indent="-171450">
              <a:buFontTx/>
              <a:buChar char="-"/>
            </a:pPr>
            <a:r>
              <a:rPr lang="es-CL" dirty="0"/>
              <a:t>Esto nos permite que si el módulo de intereses falla, los retiros sigan operando. </a:t>
            </a:r>
          </a:p>
          <a:p>
            <a:pPr marL="171450" indent="-171450">
              <a:buFontTx/>
              <a:buChar char="-"/>
            </a:pPr>
            <a:r>
              <a:rPr lang="es-CL" dirty="0"/>
              <a:t>Gracias a Eureka, podemos agregar réplicas dinámicamente si hay un pico de transacciones en Cuentas, y el API Gateway balanceará la carga de forma transparente.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7659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La seguridad centralizada era un riesgo. Implementamos OAuth2 con el flujo </a:t>
            </a:r>
            <a:r>
              <a:rPr lang="es-CL" i="1" dirty="0"/>
              <a:t>Client Credentials</a:t>
            </a:r>
            <a:r>
              <a:rPr lang="es-CL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Cada canal tiene 'scopes' o permisos estrictos: la web solo tiene permiso de lectura (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cuentas.read</a:t>
            </a:r>
            <a:r>
              <a:rPr lang="es-CL" dirty="0"/>
              <a:t>), mientras que el cajero (ATM) tiene permiso de escritura para retirar (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retiros.write</a:t>
            </a:r>
            <a:r>
              <a:rPr lang="es-CL" dirty="0"/>
              <a:t>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55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EE48-9A09-D936-8DE3-39BFAFD2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8D9077-BA58-753C-690B-BCDC1F108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F8E215-66D2-C518-5BE3-A32516068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En el archivo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evidencia_s8_oauth.txt</a:t>
            </a:r>
            <a:r>
              <a:rPr lang="es-CL" dirty="0"/>
              <a:t> pueden ver claramente cómo un intento de retiro desde la web devuelve un error 403 por permisos insuficientes, asegurando la plataforma.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28DB6B-C490-BFF2-A3EB-2DE4FCE6C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8129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Para evitar que la caída de un servicio tumbe todo el sistema (fallos en cascada), implementamos </a:t>
            </a:r>
            <a:r>
              <a:rPr lang="es-CL" i="1" dirty="0"/>
              <a:t>Circuit Breaker</a:t>
            </a:r>
            <a:r>
              <a:rPr lang="es-CL" dirty="0"/>
              <a:t> con Resilience4j.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Si el servicio de Intereses no responde, el circuito se abre y devuelve una respuesta </a:t>
            </a:r>
            <a:r>
              <a:rPr lang="es-CL" i="1" dirty="0" err="1"/>
              <a:t>Fallback</a:t>
            </a:r>
            <a:r>
              <a:rPr lang="es-CL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Para operaciones complejas como un retiro, modelamos una Saga con JMS (ActiveMQ).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Elegí JMS en lugar de Kafka porque un retiro requiere un flujo punto a punto, con confirmación inmediata y capacidad de compensación (deshacer el débito si algo falla al final).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3995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 err="1"/>
              <a:t>Contenerizamos</a:t>
            </a:r>
            <a:r>
              <a:rPr lang="es-CL" dirty="0"/>
              <a:t> todo el ecosistema.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Un solo archivo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docker-compose</a:t>
            </a:r>
            <a:r>
              <a:rPr lang="es-CL" dirty="0"/>
              <a:t> levanta la infraestructura, las bases de datos y los microservicios, inyectando la configuración en tiempo de ejecución.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La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evidencia_s9_escalado.txt</a:t>
            </a:r>
            <a:r>
              <a:rPr lang="es-CL" dirty="0"/>
              <a:t> demuestra cómo, ejecutando el comando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--scale</a:t>
            </a:r>
            <a:r>
              <a:rPr lang="es-CL" dirty="0"/>
              <a:t>, levantamos una segunda réplica de Cuentas, siendo registrada inmediatamente por Eureka y asumiendo parte de la carga.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1811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6D1B-1841-5547-2D4D-D45BF6EE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C31E17-E8DD-48AC-0F08-14F0C582E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7071EF-BAC5-7BB9-458A-8D19134FA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La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evidencia_s9_escalado.txt</a:t>
            </a:r>
            <a:r>
              <a:rPr lang="es-CL" dirty="0"/>
              <a:t> demuestra cómo, ejecutando el comando </a:t>
            </a:r>
            <a:r>
              <a:rPr lang="es-C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--scale</a:t>
            </a:r>
            <a:r>
              <a:rPr lang="es-CL" dirty="0"/>
              <a:t>, levantamos una segunda réplica de Cuentas, siendo registrada inmediatamente por Eureka y asumiendo parte de la carga.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E40579-D1B8-9891-ED0E-8EE894BF9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0957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En conclusión, frente al sistema </a:t>
            </a:r>
            <a:r>
              <a:rPr lang="es-CL" dirty="0" err="1"/>
              <a:t>legacy</a:t>
            </a:r>
            <a:r>
              <a:rPr lang="es-CL" dirty="0"/>
              <a:t>, mantuvimos la integridad de los informes financieros, pero ahora entregamos datos a medida por cada canal, implementamos seguridad robusta por tokens, garantizamos que las operaciones de retiro sean tolerantes a fallos, y logramos que el banco pueda escalar horizontalmente solo los módulos que lo necesiten, reduciendo drásticamente los costos de infraestructura.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3577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Durante el desarrollo enfrenté desafíos técnicos reales. </a:t>
            </a:r>
          </a:p>
          <a:p>
            <a:r>
              <a:rPr lang="es-CL" dirty="0"/>
              <a:t>Por ejemplo, la base de datos H2 en archivo generaba bloqueos al intentar ser leída por múltiples contenedores simultáneamente, lo cual solucioné migrándola a un servidor TCP. </a:t>
            </a:r>
          </a:p>
          <a:p>
            <a:r>
              <a:rPr lang="es-CL" dirty="0"/>
              <a:t>También, tuve que crear un 'customizer' en el Authorization Server para inyectar los permisos (scopes) directamente en el JWT.</a:t>
            </a:r>
          </a:p>
          <a:p>
            <a:r>
              <a:rPr lang="es-CL" dirty="0"/>
              <a:t>Y reestructurar el BFF para que consumiera información vía HTTP en lugar de atacar la base de datos directamente, respetando el patrón arquitectónico.</a:t>
            </a:r>
            <a:endParaRPr lang="es-C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1360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Como próximos pasos para un despliegue productivo, propongo integrar Kafka para manejar eventos de auditoría y lectura masiva (manteniendo JMS para los retiros), migrar la base de datos a PostgreSQL en RDS, e implementar métricas con Prometheus. </a:t>
            </a:r>
          </a:p>
          <a:p>
            <a:r>
              <a:rPr lang="es-CL" dirty="0"/>
              <a:t>Todo el código, junto con sus instrucciones detalladas y guía de despliegue en la nube, se encuentra respaldado en mi repositorio de GitHub. Muchas gracias por su atención.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987B8-9C6A-4D4B-8204-77189E9EE4CE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532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8443/bff/atm/saldo/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1622226"/>
            <a:ext cx="762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70296" y="2155626"/>
            <a:ext cx="11251406" cy="75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s-CL" sz="5400" b="1" i="0" u="none" noProof="0" dirty="0">
                <a:solidFill>
                  <a:srgbClr val="F8FAFC"/>
                </a:solidFill>
                <a:latin typeface="Aptos" panose="020B0004020202020204" pitchFamily="34" charset="0"/>
              </a:rPr>
              <a:t>Modernización Banco XYZ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011" y="3892748"/>
            <a:ext cx="28659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0" i="0" u="none" noProof="0" dirty="0">
                <a:solidFill>
                  <a:srgbClr val="94A3B8"/>
                </a:solidFill>
                <a:latin typeface="Aptos Display" panose="020B0004020202020204" pitchFamily="34" charset="0"/>
              </a:rPr>
              <a:t>De Mainframe a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5230" y="4778573"/>
            <a:ext cx="23415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200" b="1" i="0" u="none" noProof="0" dirty="0">
                <a:solidFill>
                  <a:srgbClr val="3B82F6"/>
                </a:solidFill>
                <a:latin typeface="Aptos Display" panose="020B0004020202020204" pitchFamily="34" charset="0"/>
              </a:rPr>
              <a:t>EVALUACIÓN FINAL TRANSVERSAL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6711" y="5045273"/>
            <a:ext cx="13585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20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Desarrollo Backend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latin typeface="Aptos Display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4782442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7887"/>
            <a:ext cx="2667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76587"/>
            <a:ext cx="2000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05287"/>
            <a:ext cx="3048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037457"/>
            <a:ext cx="12743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05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RESUMEN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51782"/>
            <a:ext cx="4580572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s-CL" sz="36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El Desafío Estructural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53742"/>
            <a:ext cx="4362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s-CL" sz="150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Transición de procesos monolíticos COBOL hacia un ecosistema distribuido y escalable.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14550"/>
            <a:ext cx="15713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Migración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86025"/>
            <a:ext cx="263847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Tres procesos críticos automatizados.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43250"/>
            <a:ext cx="237770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Canales Independientes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14725"/>
            <a:ext cx="331436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Patrón BFF para optimización web, móvil y ATM.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71950"/>
            <a:ext cx="14395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Microservicios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43425"/>
            <a:ext cx="209916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Arquitectura tolerante a fallos.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7900" y="4200525"/>
            <a:ext cx="147324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5359449" y="4200525"/>
            <a:ext cx="147324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8470999" y="4200525"/>
            <a:ext cx="147324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652837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299" y="365283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849" y="365283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398" y="3652837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3881437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849" y="3881437"/>
            <a:ext cx="342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9449" y="3881437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0048" y="3881437"/>
            <a:ext cx="2667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609600"/>
            <a:ext cx="10034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05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VISIÓN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3925"/>
            <a:ext cx="365805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Flujo de Arquitectura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567237"/>
            <a:ext cx="64908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5949" y="4567237"/>
            <a:ext cx="92493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BFF Canales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6561" y="4567237"/>
            <a:ext cx="6790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Servicios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5261" y="4567237"/>
            <a:ext cx="61074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Base H2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037" y="3852862"/>
            <a:ext cx="17145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037" y="4310062"/>
            <a:ext cx="171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362" y="3852862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362" y="4310062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47963" y="762000"/>
            <a:ext cx="509607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Evolución del Procesamiento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8052" y="3176587"/>
            <a:ext cx="20935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s-CL" sz="2400" b="1" i="0" u="none" noProof="0" dirty="0">
                <a:solidFill>
                  <a:srgbClr val="EF4444"/>
                </a:solidFill>
                <a:latin typeface="Aptos" panose="020B0004020202020204" pitchFamily="34" charset="0"/>
              </a:rPr>
              <a:t>Legado COBOL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0362" y="3176587"/>
            <a:ext cx="17711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Spring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208" y="3861271"/>
            <a:ext cx="269734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s-CL" sz="150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Archivos monolíticos compartidos.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944" y="4292039"/>
            <a:ext cx="178760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s-CL" sz="150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Fallo total ante errores.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1362" y="3838188"/>
            <a:ext cx="364926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Procesamiento paralelo segmentado.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1362" y="4295388"/>
            <a:ext cx="311072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Políticas de omisión y reintento.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A0F8-6D86-6498-1E6F-9D9CC770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DF4543-9808-D371-4B6A-D55C575268D4}"/>
              </a:ext>
            </a:extLst>
          </p:cNvPr>
          <p:cNvSpPr txBox="1"/>
          <p:nvPr/>
        </p:nvSpPr>
        <p:spPr>
          <a:xfrm>
            <a:off x="3488813" y="762000"/>
            <a:ext cx="521437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200" noProof="0" dirty="0">
                <a:latin typeface="Aptos" panose="020B0004020202020204" pitchFamily="34" charset="0"/>
              </a:rPr>
              <a:t>evidencia_batch_resumen.txt</a:t>
            </a:r>
            <a:endParaRPr lang="es-CL" sz="3000" b="1" i="0" u="none" noProof="0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9AF890-B709-E62A-0728-8E86CADC4840}"/>
              </a:ext>
            </a:extLst>
          </p:cNvPr>
          <p:cNvSpPr txBox="1"/>
          <p:nvPr/>
        </p:nvSpPr>
        <p:spPr>
          <a:xfrm>
            <a:off x="3047082" y="1851066"/>
            <a:ext cx="60978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Proyecto: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xyz (Spring Batch)</a:t>
            </a:r>
          </a:p>
          <a:p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Rol: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Carga datos legado a H2 para que xyz-bff pueda consultarlos.</a:t>
            </a:r>
          </a:p>
          <a:p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Comando: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 cd xyz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 .\mvnw.cmd -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DskipTests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spring-boot:run</a:t>
            </a:r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Resultado tipico de </a:t>
            </a:r>
            <a:r>
              <a:rPr lang="es-CL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produccion</a:t>
            </a:r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: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-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reporteTransaccionesDiariasJob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: 476 filas (con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anomalias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marcadas)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-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calculoInteresesMensualesJob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: cuentas con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interes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calculado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-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estadosCuentaAnualesJob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: movimientos anuales validos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- Base H2: xyz/data/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bankxyz</a:t>
            </a:r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r>
              <a:rPr lang="es-CL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Nota: </a:t>
            </a:r>
          </a:p>
          <a:p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La evidencia principal de Semana 5 (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patron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BFF) esta en evidencia_bff.txt.</a:t>
            </a:r>
          </a:p>
        </p:txBody>
      </p:sp>
    </p:spTree>
    <p:extLst>
      <p:ext uri="{BB962C8B-B14F-4D97-AF65-F5344CB8AC3E}">
        <p14:creationId xmlns:p14="http://schemas.microsoft.com/office/powerpoint/2010/main" val="149821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2999482"/>
            <a:ext cx="3225849" cy="2230635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4483149" y="2999482"/>
            <a:ext cx="3225849" cy="2230635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8013799" y="2999482"/>
            <a:ext cx="3225849" cy="2230635"/>
          </a:xfrm>
          <a:prstGeom prst="roundRect">
            <a:avLst>
              <a:gd name="adj" fmla="val 6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037" y="3466207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3466207"/>
            <a:ext cx="2857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337" y="3346251"/>
            <a:ext cx="4286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7780" y="762000"/>
            <a:ext cx="151644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05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OPTIMIZACIÓN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7435" y="1038225"/>
            <a:ext cx="497713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Patrón Backend for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1774" y="4075807"/>
            <a:ext cx="90730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BFF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316" y="4523482"/>
            <a:ext cx="1866217" cy="2307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5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Panel de control completo.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5456" y="4075807"/>
            <a:ext cx="100123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BFF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843" y="4523482"/>
            <a:ext cx="1962460" cy="2307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5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Volumen de datos aligerado.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872" y="3955851"/>
            <a:ext cx="8737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BFF ATM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3474" y="4403526"/>
            <a:ext cx="3246499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s-CL" sz="135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Retiros protegidos por código PIN.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371EB-21E1-F840-7A4B-971B3ABA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5566DE-15A5-3B5F-D7D6-0C08AFE7F740}"/>
              </a:ext>
            </a:extLst>
          </p:cNvPr>
          <p:cNvSpPr txBox="1"/>
          <p:nvPr/>
        </p:nvSpPr>
        <p:spPr>
          <a:xfrm>
            <a:off x="4645570" y="1511147"/>
            <a:ext cx="290085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200" noProof="0" dirty="0">
                <a:latin typeface="Aptos" panose="020B0004020202020204" pitchFamily="34" charset="0"/>
              </a:rPr>
              <a:t>evidencia_bff.txt</a:t>
            </a:r>
            <a:endParaRPr lang="es-CL" sz="3000" b="1" i="0" u="none" noProof="0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16EFFD-8BBB-F71D-2C92-C00C12700230}"/>
              </a:ext>
            </a:extLst>
          </p:cNvPr>
          <p:cNvSpPr txBox="1"/>
          <p:nvPr/>
        </p:nvSpPr>
        <p:spPr>
          <a:xfrm>
            <a:off x="3047081" y="2600213"/>
            <a:ext cx="609783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9) ATM PIN incorrecto (401) ---</a:t>
            </a:r>
          </a:p>
          <a:p>
            <a:pPr algn="ctr"/>
            <a:endParaRPr lang="es-CL" sz="1500" b="1" noProof="0" dirty="0">
              <a:solidFill>
                <a:srgbClr val="0F172A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Comando: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curl.exe -k -s -u atm:atm123 -H X-ATM-PIN: 1234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Dirección: 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  <a:hlinkClick r:id="rId3"/>
              </a:rPr>
              <a:t>https://localhost:8443/bff/atm/saldo/1</a:t>
            </a:r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Status: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HTTP/1.1 401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Respuesta: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{"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canal":"ATM","error":"PIN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invalido para la cuenta"}</a:t>
            </a:r>
          </a:p>
        </p:txBody>
      </p:sp>
    </p:spTree>
    <p:extLst>
      <p:ext uri="{BB962C8B-B14F-4D97-AF65-F5344CB8AC3E}">
        <p14:creationId xmlns:p14="http://schemas.microsoft.com/office/powerpoint/2010/main" val="258441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3327208"/>
            <a:ext cx="3174950" cy="1038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4508450" y="3327208"/>
            <a:ext cx="3174950" cy="1038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8064400" y="3327208"/>
            <a:ext cx="3174950" cy="1038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952500" y="3327208"/>
            <a:ext cx="317495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/>
          <p:nvPr/>
        </p:nvSpPr>
        <p:spPr>
          <a:xfrm>
            <a:off x="4508450" y="3327208"/>
            <a:ext cx="31749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ectangle 6"/>
          <p:cNvSpPr/>
          <p:nvPr/>
        </p:nvSpPr>
        <p:spPr>
          <a:xfrm>
            <a:off x="8064400" y="3327208"/>
            <a:ext cx="31749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952500" y="1698433"/>
            <a:ext cx="351538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Dominio Distribuido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336608"/>
            <a:ext cx="379046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50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Servicios independientes mediante Spring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670108"/>
            <a:ext cx="1463157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1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ms-cuentas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165408"/>
            <a:ext cx="195944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Gestión de saldos y débitos.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450" y="3670108"/>
            <a:ext cx="2215350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1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ms-transacciones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450" y="4165408"/>
            <a:ext cx="16483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Orquestación de pagos.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4400" y="3670108"/>
            <a:ext cx="161467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1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ms-intereses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4400" y="4165408"/>
            <a:ext cx="153830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Cálculo de productos.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642" y="3171929"/>
            <a:ext cx="533400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642" y="4124429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042" y="3324329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042" y="4276829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03642" y="1897513"/>
            <a:ext cx="19012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20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SEGURIDAD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3642" y="2211838"/>
            <a:ext cx="4557338" cy="540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s-CL" sz="44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Control OAuth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5642" y="3171929"/>
            <a:ext cx="15958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Tokens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5642" y="3543404"/>
            <a:ext cx="36838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60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Validación mediante credenciales de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5642" y="4124429"/>
            <a:ext cx="255198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Scopes de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5642" y="4495904"/>
            <a:ext cx="397814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60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Restricción automática de permisos web y ATM.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DBC53-57F2-8F69-C459-F8EA6751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C29986-4E56-A0EA-9CF0-5E9083EFC98C}"/>
              </a:ext>
            </a:extLst>
          </p:cNvPr>
          <p:cNvSpPr txBox="1"/>
          <p:nvPr/>
        </p:nvSpPr>
        <p:spPr>
          <a:xfrm>
            <a:off x="4056273" y="874005"/>
            <a:ext cx="407945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200" noProof="0" dirty="0">
                <a:latin typeface="Aptos" panose="020B0004020202020204" pitchFamily="34" charset="0"/>
              </a:rPr>
              <a:t>evidencia_s8_oauth.txt</a:t>
            </a:r>
            <a:endParaRPr lang="es-CL" sz="3000" b="1" i="0" u="none" noProof="0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D7DFC3-DF7F-FA92-1313-422FA26B34C2}"/>
              </a:ext>
            </a:extLst>
          </p:cNvPr>
          <p:cNvSpPr txBox="1"/>
          <p:nvPr/>
        </p:nvSpPr>
        <p:spPr>
          <a:xfrm>
            <a:off x="2650932" y="1961235"/>
            <a:ext cx="689013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{"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configSource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":"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config-server-nativo","servicio":"ms-cuentas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"}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=== WEB POST RETIRO ===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HTTP/1.1 403 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WWW-</a:t>
            </a:r>
            <a:r>
              <a:rPr lang="es-CL" sz="1500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Authenticate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Bearer error="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insufficient_scope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",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error_description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="The request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requires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higher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privileges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than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provided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by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the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access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token.",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error_uri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="https://tools.ietf.org/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html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/rfc6750#section-3.1"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X-Content-</a:t>
            </a:r>
            <a:r>
              <a:rPr lang="es-CL" sz="1500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Type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-</a:t>
            </a:r>
            <a:r>
              <a:rPr lang="es-CL" sz="1500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Options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: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nosniff</a:t>
            </a:r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X-XSS-Protection: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0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Cache-Control: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no-cache, no-store,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max-age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=0, 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must-revalidate</a:t>
            </a:r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Pragma: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no-cache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Expires: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0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X-Frame-</a:t>
            </a:r>
            <a:r>
              <a:rPr lang="es-CL" sz="1500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Options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DENY</a:t>
            </a: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Content-</a:t>
            </a:r>
            <a:r>
              <a:rPr lang="es-CL" sz="1500" b="1" noProof="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Length</a:t>
            </a:r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: 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9121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3817574"/>
            <a:ext cx="4838700" cy="6858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6400800" y="3817574"/>
            <a:ext cx="4838700" cy="6858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angle 3"/>
          <p:cNvSpPr/>
          <p:nvPr/>
        </p:nvSpPr>
        <p:spPr>
          <a:xfrm>
            <a:off x="952500" y="3817574"/>
            <a:ext cx="38100" cy="685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/>
          <p:nvPr/>
        </p:nvSpPr>
        <p:spPr>
          <a:xfrm>
            <a:off x="6400800" y="3817574"/>
            <a:ext cx="3810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52500" y="762000"/>
            <a:ext cx="299800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Sagas y Circuitos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400175"/>
            <a:ext cx="34488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50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Protección transaccional frente a anomalías.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817449"/>
            <a:ext cx="150041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1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Resilience4j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312749"/>
            <a:ext cx="229402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Circuitos de interrupción activos.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17449"/>
            <a:ext cx="1890197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21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Mensajería JMS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12749"/>
            <a:ext cx="25142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Compensación asíncrona de retiros.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046174"/>
            <a:ext cx="221381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B91C1C"/>
                </a:solidFill>
                <a:latin typeface="Aptos" panose="020B0004020202020204" pitchFamily="34" charset="0"/>
              </a:rPr>
              <a:t>STATE: OPEN →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4046174"/>
            <a:ext cx="197624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47857"/>
                </a:solidFill>
                <a:latin typeface="Aptos" panose="020B0004020202020204" pitchFamily="34" charset="0"/>
              </a:rPr>
              <a:t>EVENT: COMPENSADO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7505" y="1709737"/>
            <a:ext cx="351698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Escalado Horizontal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32118" y="2652712"/>
            <a:ext cx="727763" cy="13828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s-CL" sz="1050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8418" y="4214812"/>
            <a:ext cx="387516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21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Instancias activas de ms-cuentas.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691062"/>
            <a:ext cx="71437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0" i="0" u="none" noProof="0" dirty="0">
                <a:solidFill>
                  <a:srgbClr val="64748B"/>
                </a:solidFill>
                <a:latin typeface="Aptos Display" panose="020B0004020202020204" pitchFamily="34" charset="0"/>
              </a:rPr>
              <a:t>Registro dinámico en servidor Eureka mediante perfiles Docker.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67A7-1BF9-423D-5F62-05A2183C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2CEA98-F8F1-A18F-9AAF-89DAB8585508}"/>
              </a:ext>
            </a:extLst>
          </p:cNvPr>
          <p:cNvSpPr txBox="1"/>
          <p:nvPr/>
        </p:nvSpPr>
        <p:spPr>
          <a:xfrm>
            <a:off x="3711504" y="124853"/>
            <a:ext cx="466249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200" noProof="0" dirty="0">
                <a:latin typeface="Aptos" panose="020B0004020202020204" pitchFamily="34" charset="0"/>
              </a:rPr>
              <a:t>evidencia_s9_escalado.txt</a:t>
            </a:r>
            <a:endParaRPr lang="es-CL" sz="3000" b="1" i="0" u="none" noProof="0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662B2B-995B-EC31-D5E3-0EDDBD5D1E35}"/>
              </a:ext>
            </a:extLst>
          </p:cNvPr>
          <p:cNvSpPr txBox="1"/>
          <p:nvPr/>
        </p:nvSpPr>
        <p:spPr>
          <a:xfrm>
            <a:off x="352539" y="628541"/>
            <a:ext cx="113804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Comando: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docker compose up --</a:t>
            </a:r>
            <a:r>
              <a:rPr lang="es-CL" sz="1500" noProof="0" dirty="0" err="1">
                <a:solidFill>
                  <a:srgbClr val="475569"/>
                </a:solidFill>
                <a:latin typeface="Aptos Display" panose="020B0004020202020204" pitchFamily="34" charset="0"/>
              </a:rPr>
              <a:t>build</a:t>
            </a:r>
            <a:r>
              <a:rPr lang="es-CL" sz="1500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 -d --scale ms-cuentas=2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s-CL" sz="1500" b="1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--- COMPOSE PS ---</a:t>
            </a:r>
          </a:p>
          <a:p>
            <a:pPr algn="ctr"/>
            <a:endParaRPr lang="es-CL" sz="1500" noProof="0" dirty="0">
              <a:solidFill>
                <a:srgbClr val="475569"/>
              </a:solidFill>
              <a:latin typeface="Aptos Display" panose="020B00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080E2DE-0D38-03C9-4388-EB0678A24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63406"/>
              </p:ext>
            </p:extLst>
          </p:nvPr>
        </p:nvGraphicFramePr>
        <p:xfrm>
          <a:off x="676698" y="1489309"/>
          <a:ext cx="11056265" cy="513827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94194">
                  <a:extLst>
                    <a:ext uri="{9D8B030D-6E8A-4147-A177-3AD203B41FA5}">
                      <a16:colId xmlns:a16="http://schemas.microsoft.com/office/drawing/2014/main" val="1784238982"/>
                    </a:ext>
                  </a:extLst>
                </a:gridCol>
                <a:gridCol w="2833053">
                  <a:extLst>
                    <a:ext uri="{9D8B030D-6E8A-4147-A177-3AD203B41FA5}">
                      <a16:colId xmlns:a16="http://schemas.microsoft.com/office/drawing/2014/main" val="1197628552"/>
                    </a:ext>
                  </a:extLst>
                </a:gridCol>
                <a:gridCol w="1571065">
                  <a:extLst>
                    <a:ext uri="{9D8B030D-6E8A-4147-A177-3AD203B41FA5}">
                      <a16:colId xmlns:a16="http://schemas.microsoft.com/office/drawing/2014/main" val="3556254549"/>
                    </a:ext>
                  </a:extLst>
                </a:gridCol>
                <a:gridCol w="5357953">
                  <a:extLst>
                    <a:ext uri="{9D8B030D-6E8A-4147-A177-3AD203B41FA5}">
                      <a16:colId xmlns:a16="http://schemas.microsoft.com/office/drawing/2014/main" val="587196657"/>
                    </a:ext>
                  </a:extLst>
                </a:gridCol>
              </a:tblGrid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1" i="0" spc="0" noProof="0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SERVICE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1" i="0" spc="0" noProof="0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NAME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1" i="0" spc="0" noProof="0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STATUS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1" i="0" spc="0" noProof="0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PORTS</a:t>
                      </a: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1468026915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api-gateway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8-desarrollobackendiii-api-gateway-1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38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0.0.0.0:8080-&gt;8080/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[::]:8080-&gt;8080/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2030847567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auth-server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8-desarrollobackendiii-auth-server-1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53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healthy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0.0.0.0:9000-&gt;9000/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[::]:9000-&gt;9000/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1380654592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batch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8-desarrollobackendiii-batch-1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Exited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(0) 42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ago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—</a:t>
                      </a: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2105510010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config-server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8-desarrollobackendiii-config-server-1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53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healthy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0.0.0.0:8888-&gt;8888/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[::]:8888-&gt;8888/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520420118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eureka-server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8-desarrollobackendiii-eureka-server-1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53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healthy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0.0.0.0:8761-&gt;8761/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[::]:8761-&gt;8761/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877013809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h2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8-desarrollobackendiii-h2-1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53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healthy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0.0.0.0:9092-&gt;9092/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[::]:9092-&gt;9092/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3669668500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ms-cuentas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8-desarrollobackendiii-ms-cuentas-1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41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0.0.0.0:52012-&gt;8083/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[::]:52012-&gt;8083/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2441366484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ms-cuentas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8-desarrollobackendiii-ms-cuentas-2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39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0.0.0.0:52013-&gt;8083/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[::]:52013-&gt;8083/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1528595747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ms-intereses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8-desarrollobackendiii-ms-intereses-1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42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0.0.0.0:8082-&gt;8082/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[::]:8082-&gt;8082/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1163702758"/>
                  </a:ext>
                </a:extLst>
              </a:tr>
              <a:tr h="405862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ms-transacciones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8-desarrollobackendiii-ms-transacciones-1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Up 42 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seconds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0.0.0.0:8081-&gt;8081/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[::]:8081-&gt;8081/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</a:t>
                      </a:r>
                    </a:p>
                    <a:p>
                      <a:pPr marL="0" marR="0" algn="l" fontAlgn="t">
                        <a:buNone/>
                      </a:pP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0.0.0.0:61616-&gt;61616/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r>
                        <a:rPr lang="es-CL" sz="1200" b="0" i="0" spc="0" noProof="0" dirty="0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, [::]:61616-&gt;61616/</a:t>
                      </a:r>
                      <a:r>
                        <a:rPr lang="es-CL" sz="1200" b="0" i="0" spc="0" noProof="0" dirty="0" err="1"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tcp</a:t>
                      </a:r>
                      <a:endParaRPr lang="es-CL" sz="1200" b="0" i="0" spc="0" noProof="0" dirty="0">
                        <a:solidFill>
                          <a:schemeClr val="tx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T="76200" marB="76200"/>
                </a:tc>
                <a:extLst>
                  <a:ext uri="{0D108BD9-81ED-4DB2-BD59-A6C34878D82A}">
                    <a16:rowId xmlns:a16="http://schemas.microsoft.com/office/drawing/2014/main" val="314233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81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5100" y="3274074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7807225" y="3274074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323353" y="762000"/>
            <a:ext cx="15452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05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MÉTRICAS DE MIGRACIÓN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8768" y="1038225"/>
            <a:ext cx="389446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Resultados Obtenidos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1032" y="3178824"/>
            <a:ext cx="1245534" cy="790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L" sz="60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476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0461" y="4093224"/>
            <a:ext cx="260667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5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Transacciones diarias migradas.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158" y="3178824"/>
            <a:ext cx="1245534" cy="790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L" sz="6000" b="1" i="0" u="none" noProof="0" dirty="0">
                <a:solidFill>
                  <a:srgbClr val="2563EB"/>
                </a:solidFill>
                <a:latin typeface="Aptos Display" panose="020B0004020202020204" pitchFamily="34" charset="0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9797" y="4093224"/>
            <a:ext cx="215225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5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Respuesta de lectura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5283" y="3178824"/>
            <a:ext cx="1245534" cy="790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L" sz="6000" b="1" i="0" u="none" noProof="0" dirty="0">
                <a:solidFill>
                  <a:srgbClr val="EF4444"/>
                </a:solidFill>
                <a:latin typeface="Aptos Display" panose="020B0004020202020204" pitchFamily="34" charset="0"/>
              </a:rPr>
              <a:t>403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0450" y="4093224"/>
            <a:ext cx="21352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5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Rechazo de escritura web.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2752725"/>
            <a:ext cx="3174950" cy="2447925"/>
          </a:xfrm>
          <a:prstGeom prst="roundRect">
            <a:avLst>
              <a:gd name="adj" fmla="val 46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4508450" y="2752725"/>
            <a:ext cx="3174950" cy="2447925"/>
          </a:xfrm>
          <a:prstGeom prst="roundRect">
            <a:avLst>
              <a:gd name="adj" fmla="val 46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8064400" y="2752725"/>
            <a:ext cx="3174950" cy="2447925"/>
          </a:xfrm>
          <a:prstGeom prst="roundRect">
            <a:avLst>
              <a:gd name="adj" fmla="val 46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2311300" y="32099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5867251" y="32099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9423201" y="32099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103884" y="905221"/>
            <a:ext cx="398423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3000" b="1" i="0" u="none" noProof="0" dirty="0">
                <a:solidFill>
                  <a:srgbClr val="0F172A"/>
                </a:solidFill>
                <a:latin typeface="Aptos" panose="020B0004020202020204" pitchFamily="34" charset="0"/>
              </a:rPr>
              <a:t>Obstáculos Superados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8425" y="3346192"/>
            <a:ext cx="742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12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5552" y="3895725"/>
            <a:ext cx="132869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Concurrencia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631" y="4343400"/>
            <a:ext cx="320668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Implementación de H2 en modo TCP.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4376" y="3346192"/>
            <a:ext cx="742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12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8245" y="3895725"/>
            <a:ext cx="123521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Autorización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581" y="4343400"/>
            <a:ext cx="320668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Inyección de scopes mediante Customizer.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0326" y="3346192"/>
            <a:ext cx="742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1200" b="1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3888" y="3895725"/>
            <a:ext cx="13758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0F172A"/>
                </a:solidFill>
                <a:latin typeface="Aptos Display" panose="020B0004020202020204" pitchFamily="34" charset="0"/>
              </a:rPr>
              <a:t>Acoplamiento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8531" y="4343400"/>
            <a:ext cx="320668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475569"/>
                </a:solidFill>
                <a:latin typeface="Aptos Display" panose="020B0004020202020204" pitchFamily="34" charset="0"/>
              </a:rPr>
              <a:t>Migración de canales a RestClient.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50" y="3686175"/>
            <a:ext cx="4572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3686175"/>
            <a:ext cx="4000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649" y="358616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3103" y="1776412"/>
            <a:ext cx="172579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200" b="1" i="0" u="none" noProof="0" dirty="0">
                <a:solidFill>
                  <a:srgbClr val="3B82F6"/>
                </a:solidFill>
                <a:latin typeface="Aptos Display" panose="020B0004020202020204" pitchFamily="34" charset="0"/>
              </a:rPr>
              <a:t>EXPANSIÓN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2976" y="2195512"/>
            <a:ext cx="5466047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4800" b="1" i="0" u="none" noProof="0" dirty="0">
                <a:solidFill>
                  <a:srgbClr val="F8FAFC"/>
                </a:solidFill>
                <a:latin typeface="Aptos" panose="020B0004020202020204" pitchFamily="34" charset="0"/>
              </a:rPr>
              <a:t>Evolución Continua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211" y="4371975"/>
            <a:ext cx="14312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F8FAFC"/>
                </a:solidFill>
                <a:latin typeface="Aptos" panose="020B0004020202020204" pitchFamily="34" charset="0"/>
              </a:rPr>
              <a:t>Apache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0179" y="4781550"/>
            <a:ext cx="129529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94A3B8"/>
                </a:solidFill>
                <a:latin typeface="Aptos Display" panose="020B0004020202020204" pitchFamily="34" charset="0"/>
              </a:rPr>
              <a:t>Auditoría y alertas.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1128" y="4371975"/>
            <a:ext cx="10098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F8FAFC"/>
                </a:solidFill>
                <a:latin typeface="Aptos" panose="020B0004020202020204" pitchFamily="34" charset="0"/>
              </a:rPr>
              <a:t>Base 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9572" y="4781550"/>
            <a:ext cx="231300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94A3B8"/>
                </a:solidFill>
                <a:latin typeface="Aptos Display" panose="020B0004020202020204" pitchFamily="34" charset="0"/>
              </a:rPr>
              <a:t>Migración a persistencia en nube.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6024" y="4271962"/>
            <a:ext cx="91659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F8FAFC"/>
                </a:solidFill>
                <a:latin typeface="Aptos" panose="020B0004020202020204" pitchFamily="34" charset="0"/>
              </a:rPr>
              <a:t>Métricas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3918" y="4785411"/>
            <a:ext cx="346081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350" b="0" i="0" u="none" noProof="0" dirty="0">
                <a:solidFill>
                  <a:srgbClr val="94A3B8"/>
                </a:solidFill>
                <a:latin typeface="Aptos Display" panose="020B0004020202020204" pitchFamily="34" charset="0"/>
              </a:rPr>
              <a:t>Monitoreo interactivo Prometheus.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1824</Words>
  <Application>Microsoft Office PowerPoint</Application>
  <PresentationFormat>Panorámica</PresentationFormat>
  <Paragraphs>238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IGNACIO TAPIA CACERES</cp:lastModifiedBy>
  <cp:revision>11</cp:revision>
  <dcterms:created xsi:type="dcterms:W3CDTF">2013-01-27T09:14:16Z</dcterms:created>
  <dcterms:modified xsi:type="dcterms:W3CDTF">2026-10-09T02:05:36Z</dcterms:modified>
  <cp:category/>
</cp:coreProperties>
</file>